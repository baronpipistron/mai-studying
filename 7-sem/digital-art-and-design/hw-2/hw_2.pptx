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D9B4DDC-6401-4132-8043-CB7B002100E5}">
          <p14:sldIdLst>
            <p14:sldId id="256"/>
            <p14:sldId id="258"/>
            <p14:sldId id="259"/>
            <p14:sldId id="260"/>
            <p14:sldId id="261"/>
            <p14:sldId id="262"/>
          </p14:sldIdLst>
        </p14:section>
        <p14:section name="Раздел без заголовка" id="{C7F5FB64-BC05-46D3-8334-10B6412DFE9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4" d="100"/>
          <a:sy n="154" d="100"/>
        </p:scale>
        <p:origin x="534" y="12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7541" y="624989"/>
            <a:ext cx="5951053" cy="1723549"/>
          </a:xfrm>
          <a:prstGeom prst="rect">
            <a:avLst/>
          </a:prstGeom>
          <a:noFill/>
        </p:spPr>
        <p:txBody>
          <a:bodyPr wrap="none">
            <a:spAutoFit/>
          </a:bodyPr>
          <a:lstStyle/>
          <a:p>
            <a:pPr algn="l"/>
            <a:r>
              <a:rPr lang="ru-RU" sz="4400" b="1" dirty="0">
                <a:solidFill>
                  <a:srgbClr val="EBEDF0"/>
                </a:solidFill>
              </a:rPr>
              <a:t>Концебалов Олег</a:t>
            </a:r>
          </a:p>
          <a:p>
            <a:pPr algn="l"/>
            <a:r>
              <a:rPr lang="ru-RU" sz="4400" b="1" dirty="0">
                <a:solidFill>
                  <a:srgbClr val="EBEDF0"/>
                </a:solidFill>
              </a:rPr>
              <a:t>М8О-409Б-22</a:t>
            </a:r>
            <a:endParaRPr sz="4400" b="1" dirty="0">
              <a:solidFill>
                <a:srgbClr val="EBEDF0"/>
              </a:solidFill>
            </a:endParaRPr>
          </a:p>
          <a:p>
            <a:r>
              <a:rPr dirty="0" err="1">
                <a:solidFill>
                  <a:srgbClr val="A0AAB4"/>
                </a:solidFill>
              </a:rPr>
              <a:t>Курс</a:t>
            </a:r>
            <a:r>
              <a:rPr dirty="0">
                <a:solidFill>
                  <a:srgbClr val="A0AAB4"/>
                </a:solidFill>
              </a:rPr>
              <a:t>: </a:t>
            </a:r>
            <a:r>
              <a:rPr dirty="0" err="1">
                <a:solidFill>
                  <a:srgbClr val="A0AAB4"/>
                </a:solidFill>
              </a:rPr>
              <a:t>Цифровое</a:t>
            </a:r>
            <a:r>
              <a:rPr dirty="0">
                <a:solidFill>
                  <a:srgbClr val="A0AAB4"/>
                </a:solidFill>
              </a:rPr>
              <a:t> </a:t>
            </a:r>
            <a:r>
              <a:rPr dirty="0" err="1">
                <a:solidFill>
                  <a:srgbClr val="A0AAB4"/>
                </a:solidFill>
              </a:rPr>
              <a:t>искусство</a:t>
            </a:r>
            <a:r>
              <a:rPr dirty="0">
                <a:solidFill>
                  <a:srgbClr val="A0AAB4"/>
                </a:solidFill>
              </a:rPr>
              <a:t> и </a:t>
            </a:r>
            <a:r>
              <a:rPr dirty="0" err="1">
                <a:solidFill>
                  <a:srgbClr val="A0AAB4"/>
                </a:solidFill>
              </a:rPr>
              <a:t>дизайн</a:t>
            </a:r>
            <a:r>
              <a:rPr dirty="0">
                <a:solidFill>
                  <a:srgbClr val="A0AAB4"/>
                </a:solidFill>
              </a:rPr>
              <a:t> ·</a:t>
            </a:r>
            <a:r>
              <a:rPr lang="ru-RU" dirty="0">
                <a:solidFill>
                  <a:srgbClr val="A0AAB4"/>
                </a:solidFill>
              </a:rPr>
              <a:t> Домашнее задание </a:t>
            </a:r>
            <a:r>
              <a:rPr lang="en-US" dirty="0">
                <a:solidFill>
                  <a:srgbClr val="A0AAB4"/>
                </a:solidFill>
              </a:rPr>
              <a:t>2</a:t>
            </a:r>
            <a:endParaRPr dirty="0">
              <a:solidFill>
                <a:srgbClr val="A0AAB4"/>
              </a:solidFill>
            </a:endParaRPr>
          </a:p>
        </p:txBody>
      </p:sp>
      <p:pic>
        <p:nvPicPr>
          <p:cNvPr id="1030" name="Picture 6" descr="Picture background">
            <a:extLst>
              <a:ext uri="{FF2B5EF4-FFF2-40B4-BE49-F238E27FC236}">
                <a16:creationId xmlns:a16="http://schemas.microsoft.com/office/drawing/2014/main" id="{4679EE9F-813A-4CCF-A0A1-1F18C12BA8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0480" y="5077403"/>
            <a:ext cx="1539165" cy="14831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1538951" y="729032"/>
            <a:ext cx="9114098" cy="769441"/>
          </a:xfrm>
          <a:prstGeom prst="rect">
            <a:avLst/>
          </a:prstGeom>
          <a:noFill/>
        </p:spPr>
        <p:txBody>
          <a:bodyPr wrap="none">
            <a:spAutoFit/>
          </a:bodyPr>
          <a:lstStyle/>
          <a:p>
            <a:pPr algn="l"/>
            <a:r>
              <a:rPr sz="4400" b="1" dirty="0" err="1">
                <a:solidFill>
                  <a:srgbClr val="EBEDF0"/>
                </a:solidFill>
              </a:rPr>
              <a:t>Задание</a:t>
            </a:r>
            <a:r>
              <a:rPr sz="4400" b="1" dirty="0">
                <a:solidFill>
                  <a:srgbClr val="EBEDF0"/>
                </a:solidFill>
              </a:rPr>
              <a:t>: </a:t>
            </a:r>
            <a:r>
              <a:rPr lang="ru-RU" sz="4400" b="1" dirty="0">
                <a:solidFill>
                  <a:srgbClr val="EBEDF0"/>
                </a:solidFill>
              </a:rPr>
              <a:t>Серия работ с помощью </a:t>
            </a:r>
            <a:r>
              <a:rPr lang="en-US" sz="4400" b="1" dirty="0">
                <a:solidFill>
                  <a:srgbClr val="EBEDF0"/>
                </a:solidFill>
              </a:rPr>
              <a:t>AI</a:t>
            </a:r>
            <a:endParaRPr sz="4400" b="1" dirty="0">
              <a:solidFill>
                <a:srgbClr val="EBEDF0"/>
              </a:solidFill>
            </a:endParaRPr>
          </a:p>
        </p:txBody>
      </p:sp>
      <p:sp>
        <p:nvSpPr>
          <p:cNvPr id="4" name="TextBox 3"/>
          <p:cNvSpPr txBox="1"/>
          <p:nvPr/>
        </p:nvSpPr>
        <p:spPr>
          <a:xfrm>
            <a:off x="2255520" y="2103120"/>
            <a:ext cx="7680960" cy="2616101"/>
          </a:xfrm>
          <a:prstGeom prst="rect">
            <a:avLst/>
          </a:prstGeom>
          <a:noFill/>
        </p:spPr>
        <p:txBody>
          <a:bodyPr wrap="square">
            <a:spAutoFit/>
          </a:bodyPr>
          <a:lstStyle/>
          <a:p>
            <a:pPr marL="285750" indent="-285750" algn="just">
              <a:buFont typeface="Arial" panose="020B0604020202020204" pitchFamily="34" charset="0"/>
              <a:buChar char="•"/>
              <a:defRPr sz="2000"/>
            </a:pPr>
            <a:r>
              <a:rPr lang="ru-RU" sz="1800" dirty="0">
                <a:solidFill>
                  <a:schemeClr val="bg1"/>
                </a:solidFill>
              </a:rPr>
              <a:t>Тема серии: «Супермаркет» (POV от первого лица — участник компании друзей)</a:t>
            </a:r>
          </a:p>
          <a:p>
            <a:pPr marL="285750" indent="-285750" algn="just">
              <a:buFont typeface="Arial" panose="020B0604020202020204" pitchFamily="34" charset="0"/>
              <a:buChar char="•"/>
              <a:defRPr sz="2000"/>
            </a:pPr>
            <a:r>
              <a:rPr lang="ru-RU" sz="1800" dirty="0">
                <a:solidFill>
                  <a:schemeClr val="bg1"/>
                </a:solidFill>
              </a:rPr>
              <a:t>Тип контраста по </a:t>
            </a:r>
            <a:r>
              <a:rPr lang="ru-RU" sz="1800" dirty="0" err="1">
                <a:solidFill>
                  <a:schemeClr val="bg1"/>
                </a:solidFill>
              </a:rPr>
              <a:t>Иттену</a:t>
            </a:r>
            <a:r>
              <a:rPr lang="ru-RU" sz="1800" dirty="0">
                <a:solidFill>
                  <a:schemeClr val="bg1"/>
                </a:solidFill>
              </a:rPr>
              <a:t>: хроматический контраст дополнительных цветов (зелёный - тёплый оранжевый/красный).</a:t>
            </a:r>
          </a:p>
          <a:p>
            <a:pPr marL="285750" indent="-285750" algn="just">
              <a:buFont typeface="Arial" panose="020B0604020202020204" pitchFamily="34" charset="0"/>
              <a:buChar char="•"/>
              <a:defRPr sz="2000"/>
            </a:pPr>
            <a:r>
              <a:rPr lang="ru-RU" sz="1800" dirty="0">
                <a:solidFill>
                  <a:schemeClr val="bg1"/>
                </a:solidFill>
              </a:rPr>
              <a:t>Композиция: осевая симметрия + центральная перспектива (</a:t>
            </a:r>
            <a:r>
              <a:rPr lang="ru-RU" sz="1800" dirty="0" err="1">
                <a:solidFill>
                  <a:schemeClr val="bg1"/>
                </a:solidFill>
              </a:rPr>
              <a:t>leading</a:t>
            </a:r>
            <a:r>
              <a:rPr lang="ru-RU" sz="1800" dirty="0">
                <a:solidFill>
                  <a:schemeClr val="bg1"/>
                </a:solidFill>
              </a:rPr>
              <a:t> </a:t>
            </a:r>
            <a:r>
              <a:rPr lang="ru-RU" sz="1800" dirty="0" err="1">
                <a:solidFill>
                  <a:schemeClr val="bg1"/>
                </a:solidFill>
              </a:rPr>
              <a:t>lines</a:t>
            </a:r>
            <a:r>
              <a:rPr lang="ru-RU" sz="1800" dirty="0">
                <a:solidFill>
                  <a:schemeClr val="bg1"/>
                </a:solidFill>
              </a:rPr>
              <a:t> полок/кассы/проходов).</a:t>
            </a:r>
          </a:p>
          <a:p>
            <a:pPr marL="285750" indent="-285750" algn="just">
              <a:buFont typeface="Arial" panose="020B0604020202020204" pitchFamily="34" charset="0"/>
              <a:buChar char="•"/>
              <a:defRPr sz="2000"/>
            </a:pPr>
            <a:r>
              <a:rPr lang="ru-RU" sz="1800" dirty="0">
                <a:solidFill>
                  <a:schemeClr val="bg1"/>
                </a:solidFill>
              </a:rPr>
              <a:t>Единая стилистика: </a:t>
            </a:r>
            <a:r>
              <a:rPr lang="ru-RU" sz="1800" dirty="0" err="1">
                <a:solidFill>
                  <a:schemeClr val="bg1"/>
                </a:solidFill>
              </a:rPr>
              <a:t>semi‑realistic</a:t>
            </a:r>
            <a:r>
              <a:rPr lang="ru-RU" sz="1800" dirty="0">
                <a:solidFill>
                  <a:schemeClr val="bg1"/>
                </a:solidFill>
              </a:rPr>
              <a:t> 3D, </a:t>
            </a:r>
            <a:r>
              <a:rPr lang="ru-RU" sz="1800" dirty="0" err="1">
                <a:solidFill>
                  <a:schemeClr val="bg1"/>
                </a:solidFill>
              </a:rPr>
              <a:t>cinematic</a:t>
            </a:r>
            <a:r>
              <a:rPr lang="ru-RU" sz="1800" dirty="0">
                <a:solidFill>
                  <a:schemeClr val="bg1"/>
                </a:solidFill>
              </a:rPr>
              <a:t> </a:t>
            </a:r>
            <a:r>
              <a:rPr lang="ru-RU" sz="1800" dirty="0" err="1">
                <a:solidFill>
                  <a:schemeClr val="bg1"/>
                </a:solidFill>
              </a:rPr>
              <a:t>lighting</a:t>
            </a:r>
            <a:r>
              <a:rPr lang="ru-RU" sz="1800" dirty="0">
                <a:solidFill>
                  <a:schemeClr val="bg1"/>
                </a:solidFill>
              </a:rPr>
              <a:t>, формат 16:9.</a:t>
            </a:r>
          </a:p>
          <a:p>
            <a:pPr marL="285750" indent="-285750" algn="just">
              <a:buFont typeface="Arial" panose="020B0604020202020204" pitchFamily="34" charset="0"/>
              <a:buChar char="•"/>
              <a:defRPr sz="2000"/>
            </a:pPr>
            <a:r>
              <a:rPr lang="ru-RU" sz="1800" dirty="0">
                <a:solidFill>
                  <a:schemeClr val="bg1"/>
                </a:solidFill>
              </a:rPr>
              <a:t>Объединяющие мотивы: POV‑рука с чёрными смарт‑часами, зелёные неон‑акценты, один и тот же «герой».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75097" y="506027"/>
            <a:ext cx="9238491" cy="769441"/>
          </a:xfrm>
          <a:prstGeom prst="rect">
            <a:avLst/>
          </a:prstGeom>
          <a:noFill/>
        </p:spPr>
        <p:txBody>
          <a:bodyPr wrap="none">
            <a:spAutoFit/>
          </a:bodyPr>
          <a:lstStyle/>
          <a:p>
            <a:pPr algn="l"/>
            <a:r>
              <a:rPr sz="4400" b="1" dirty="0" err="1">
                <a:solidFill>
                  <a:srgbClr val="EBEDF0"/>
                </a:solidFill>
              </a:rPr>
              <a:t>Серия</a:t>
            </a:r>
            <a:r>
              <a:rPr sz="4400" b="1" dirty="0">
                <a:solidFill>
                  <a:srgbClr val="EBEDF0"/>
                </a:solidFill>
              </a:rPr>
              <a:t>:</a:t>
            </a:r>
            <a:r>
              <a:rPr lang="ru-RU" sz="4400" b="1" dirty="0">
                <a:solidFill>
                  <a:srgbClr val="EBEDF0"/>
                </a:solidFill>
              </a:rPr>
              <a:t> Супермаркет. Хороший вечер</a:t>
            </a:r>
            <a:endParaRPr sz="4400" b="1" dirty="0">
              <a:solidFill>
                <a:srgbClr val="EBEDF0"/>
              </a:solidFill>
            </a:endParaRPr>
          </a:p>
        </p:txBody>
      </p:sp>
      <p:pic>
        <p:nvPicPr>
          <p:cNvPr id="5" name="Рисунок 4">
            <a:extLst>
              <a:ext uri="{FF2B5EF4-FFF2-40B4-BE49-F238E27FC236}">
                <a16:creationId xmlns:a16="http://schemas.microsoft.com/office/drawing/2014/main" id="{87E86516-948D-46DF-94E4-F74FE5A950FE}"/>
              </a:ext>
            </a:extLst>
          </p:cNvPr>
          <p:cNvPicPr>
            <a:picLocks noChangeAspect="1"/>
          </p:cNvPicPr>
          <p:nvPr/>
        </p:nvPicPr>
        <p:blipFill>
          <a:blip r:embed="rId2"/>
          <a:stretch>
            <a:fillRect/>
          </a:stretch>
        </p:blipFill>
        <p:spPr>
          <a:xfrm>
            <a:off x="989046" y="1308373"/>
            <a:ext cx="4298302" cy="2407049"/>
          </a:xfrm>
          <a:prstGeom prst="rect">
            <a:avLst/>
          </a:prstGeom>
        </p:spPr>
      </p:pic>
      <p:pic>
        <p:nvPicPr>
          <p:cNvPr id="7" name="Рисунок 6">
            <a:extLst>
              <a:ext uri="{FF2B5EF4-FFF2-40B4-BE49-F238E27FC236}">
                <a16:creationId xmlns:a16="http://schemas.microsoft.com/office/drawing/2014/main" id="{0A9817EA-EE9F-4AB5-8FF6-2A277DB0F7B6}"/>
              </a:ext>
            </a:extLst>
          </p:cNvPr>
          <p:cNvPicPr>
            <a:picLocks noChangeAspect="1"/>
          </p:cNvPicPr>
          <p:nvPr/>
        </p:nvPicPr>
        <p:blipFill>
          <a:blip r:embed="rId3"/>
          <a:stretch>
            <a:fillRect/>
          </a:stretch>
        </p:blipFill>
        <p:spPr>
          <a:xfrm>
            <a:off x="6590523" y="1308373"/>
            <a:ext cx="4298302" cy="2407050"/>
          </a:xfrm>
          <a:prstGeom prst="rect">
            <a:avLst/>
          </a:prstGeom>
        </p:spPr>
      </p:pic>
      <p:pic>
        <p:nvPicPr>
          <p:cNvPr id="9" name="Рисунок 8">
            <a:extLst>
              <a:ext uri="{FF2B5EF4-FFF2-40B4-BE49-F238E27FC236}">
                <a16:creationId xmlns:a16="http://schemas.microsoft.com/office/drawing/2014/main" id="{010DBCED-69A6-4A6F-8400-134E73E30341}"/>
              </a:ext>
            </a:extLst>
          </p:cNvPr>
          <p:cNvPicPr>
            <a:picLocks noChangeAspect="1"/>
          </p:cNvPicPr>
          <p:nvPr/>
        </p:nvPicPr>
        <p:blipFill>
          <a:blip r:embed="rId4"/>
          <a:stretch>
            <a:fillRect/>
          </a:stretch>
        </p:blipFill>
        <p:spPr>
          <a:xfrm>
            <a:off x="3837991" y="3975215"/>
            <a:ext cx="4516017" cy="25289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ru-RU" dirty="0"/>
          </a:p>
        </p:txBody>
      </p:sp>
      <p:sp>
        <p:nvSpPr>
          <p:cNvPr id="3" name="TextBox 2"/>
          <p:cNvSpPr txBox="1"/>
          <p:nvPr/>
        </p:nvSpPr>
        <p:spPr>
          <a:xfrm>
            <a:off x="2255521" y="731520"/>
            <a:ext cx="2275688" cy="769441"/>
          </a:xfrm>
          <a:prstGeom prst="rect">
            <a:avLst/>
          </a:prstGeom>
          <a:noFill/>
        </p:spPr>
        <p:txBody>
          <a:bodyPr wrap="none">
            <a:spAutoFit/>
          </a:bodyPr>
          <a:lstStyle/>
          <a:p>
            <a:pPr algn="l"/>
            <a:r>
              <a:rPr sz="4400" b="1" dirty="0" err="1">
                <a:solidFill>
                  <a:srgbClr val="EBEDF0"/>
                </a:solidFill>
              </a:rPr>
              <a:t>Работа</a:t>
            </a:r>
            <a:r>
              <a:rPr sz="4400" b="1" dirty="0">
                <a:solidFill>
                  <a:srgbClr val="EBEDF0"/>
                </a:solidFill>
              </a:rPr>
              <a:t> 1</a:t>
            </a:r>
          </a:p>
        </p:txBody>
      </p:sp>
      <p:sp>
        <p:nvSpPr>
          <p:cNvPr id="6" name="TextBox 5"/>
          <p:cNvSpPr txBox="1"/>
          <p:nvPr/>
        </p:nvSpPr>
        <p:spPr>
          <a:xfrm>
            <a:off x="2255520" y="6858001"/>
            <a:ext cx="7210628" cy="276999"/>
          </a:xfrm>
          <a:prstGeom prst="rect">
            <a:avLst/>
          </a:prstGeom>
          <a:noFill/>
        </p:spPr>
        <p:txBody>
          <a:bodyPr wrap="none">
            <a:spAutoFit/>
          </a:bodyPr>
          <a:lstStyle/>
          <a:p>
            <a:r>
              <a:rPr sz="1200">
                <a:solidFill>
                  <a:srgbClr val="A0AAB4"/>
                </a:solidFill>
              </a:rPr>
              <a:t>Если делаете видео-арт: здесь — постер-фрейм, а ниже добавьте ссылку на хостинг (Vimeo/YouTube/диск).</a:t>
            </a:r>
          </a:p>
        </p:txBody>
      </p:sp>
      <p:pic>
        <p:nvPicPr>
          <p:cNvPr id="7" name="Рисунок 6">
            <a:extLst>
              <a:ext uri="{FF2B5EF4-FFF2-40B4-BE49-F238E27FC236}">
                <a16:creationId xmlns:a16="http://schemas.microsoft.com/office/drawing/2014/main" id="{C50E9F34-670A-4EF5-B7B8-D127A4694D03}"/>
              </a:ext>
            </a:extLst>
          </p:cNvPr>
          <p:cNvPicPr>
            <a:picLocks noChangeAspect="1"/>
          </p:cNvPicPr>
          <p:nvPr/>
        </p:nvPicPr>
        <p:blipFill>
          <a:blip r:embed="rId2"/>
          <a:stretch>
            <a:fillRect/>
          </a:stretch>
        </p:blipFill>
        <p:spPr>
          <a:xfrm>
            <a:off x="585272" y="2187313"/>
            <a:ext cx="4434597" cy="2483374"/>
          </a:xfrm>
          <a:prstGeom prst="rect">
            <a:avLst/>
          </a:prstGeom>
        </p:spPr>
      </p:pic>
      <p:sp>
        <p:nvSpPr>
          <p:cNvPr id="8" name="TextBox 7">
            <a:extLst>
              <a:ext uri="{FF2B5EF4-FFF2-40B4-BE49-F238E27FC236}">
                <a16:creationId xmlns:a16="http://schemas.microsoft.com/office/drawing/2014/main" id="{84ADAEE8-823F-4380-A09D-013EF6CB36D8}"/>
              </a:ext>
            </a:extLst>
          </p:cNvPr>
          <p:cNvSpPr txBox="1"/>
          <p:nvPr/>
        </p:nvSpPr>
        <p:spPr>
          <a:xfrm>
            <a:off x="5019869" y="1665244"/>
            <a:ext cx="6745410" cy="3720057"/>
          </a:xfrm>
          <a:prstGeom prst="rect">
            <a:avLst/>
          </a:prstGeom>
          <a:noFill/>
        </p:spPr>
        <p:txBody>
          <a:bodyPr wrap="square" rtlCol="0">
            <a:spAutoFit/>
          </a:bodyPr>
          <a:lstStyle/>
          <a:p>
            <a:pPr>
              <a:defRPr sz="1600" b="1"/>
            </a:pPr>
            <a:r>
              <a:rPr lang="en-US" dirty="0">
                <a:solidFill>
                  <a:schemeClr val="bg1"/>
                </a:solidFill>
              </a:rPr>
              <a:t>Prompt:</a:t>
            </a:r>
          </a:p>
          <a:p>
            <a:pPr marL="171450" indent="-171450" algn="just">
              <a:spcAft>
                <a:spcPts val="800"/>
              </a:spcAft>
              <a:buFont typeface="Arial" panose="020B0604020202020204" pitchFamily="34" charset="0"/>
              <a:buChar char="•"/>
              <a:defRPr sz="1200"/>
            </a:pPr>
            <a:r>
              <a:rPr lang="en-US" dirty="0">
                <a:solidFill>
                  <a:schemeClr val="bg1"/>
                </a:solidFill>
              </a:rPr>
              <a:t>first-person POV entering a modern Russian supermarket at night, automatic sliding doors opening, a group of friends walking in ahead, green neon accents and warm interior light, shelves and checkout lines forming central perspective, left hand in foreground with a black smartwatch visible, axial symmetry, complementary color contrast green vs warm orange, semi-realistic 3D style, cinematic lighting, soft shadows, high detail, 4k, no visible logos or readable text. Negative prompt: blurry, deformed, extra fingers, extra limbs, text, typography, letters, numbers, watermark, logo, brand text, readable labels, price tags, barcode, signage, low quality, oversharp, noisy background, cluttered composition, kitsch, stock photo look</a:t>
            </a:r>
          </a:p>
          <a:p>
            <a:pPr>
              <a:defRPr sz="1600" b="1"/>
            </a:pPr>
            <a:r>
              <a:rPr lang="en-US" dirty="0">
                <a:solidFill>
                  <a:schemeClr val="bg1"/>
                </a:solidFill>
              </a:rPr>
              <a:t>Negative prompt (append if your model lacks a separate field):</a:t>
            </a:r>
          </a:p>
          <a:p>
            <a:pPr marL="171450" indent="-171450" algn="just">
              <a:spcAft>
                <a:spcPts val="800"/>
              </a:spcAft>
              <a:buFont typeface="Arial" panose="020B0604020202020204" pitchFamily="34" charset="0"/>
              <a:buChar char="•"/>
              <a:defRPr sz="1200"/>
            </a:pPr>
            <a:r>
              <a:rPr lang="en-US" dirty="0">
                <a:solidFill>
                  <a:schemeClr val="bg1"/>
                </a:solidFill>
              </a:rPr>
              <a:t>blurry, deformed, extra fingers, extra limbs, text, typography, letters, numbers, watermark, logo, brand text, readable labels, price tags, barcode, signage, low quality, oversharp, noisy background, cluttered composition, kitsch, stock photo look</a:t>
            </a:r>
          </a:p>
          <a:p>
            <a:pPr>
              <a:defRPr sz="1600" b="1"/>
            </a:pPr>
            <a:r>
              <a:rPr lang="en-US" dirty="0">
                <a:solidFill>
                  <a:schemeClr val="bg1"/>
                </a:solidFill>
              </a:rPr>
              <a:t>Tool settings hint:</a:t>
            </a:r>
          </a:p>
          <a:p>
            <a:pPr marL="171450" indent="-171450" algn="just">
              <a:buFont typeface="Arial" panose="020B0604020202020204" pitchFamily="34" charset="0"/>
              <a:buChar char="•"/>
              <a:defRPr sz="1200"/>
            </a:pPr>
            <a:r>
              <a:rPr lang="en-US" dirty="0">
                <a:solidFill>
                  <a:schemeClr val="bg1"/>
                </a:solidFill>
              </a:rPr>
              <a:t>Aspect ratio 16:9; Style: semi-realistic 3D; Lighting: soft key + subtle rim; Guidance/CFG: middle</a:t>
            </a:r>
            <a:r>
              <a:rPr lang="ru-RU" dirty="0">
                <a:solidFill>
                  <a:schemeClr val="bg1"/>
                </a:solidFill>
              </a:rPr>
              <a:t>; </a:t>
            </a:r>
            <a:r>
              <a:rPr lang="en-US" dirty="0">
                <a:solidFill>
                  <a:schemeClr val="bg1"/>
                </a:solidFill>
              </a:rPr>
              <a:t>Steps: default</a:t>
            </a:r>
            <a:r>
              <a:rPr lang="ru-RU" dirty="0">
                <a:solidFill>
                  <a:schemeClr val="bg1"/>
                </a:solidFill>
              </a:rPr>
              <a:t>.</a:t>
            </a:r>
          </a:p>
          <a:p>
            <a:pPr algn="just">
              <a:lnSpc>
                <a:spcPct val="107000"/>
              </a:lnSpc>
              <a:spcAft>
                <a:spcPts val="800"/>
              </a:spcAft>
            </a:pPr>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6858000"/>
          </a:xfrm>
          <a:prstGeom prst="rect">
            <a:avLst/>
          </a:prstGeom>
          <a:solidFill>
            <a:srgbClr val="0F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55521" y="731520"/>
            <a:ext cx="2275688" cy="769441"/>
          </a:xfrm>
          <a:prstGeom prst="rect">
            <a:avLst/>
          </a:prstGeom>
          <a:noFill/>
        </p:spPr>
        <p:txBody>
          <a:bodyPr wrap="none">
            <a:spAutoFit/>
          </a:bodyPr>
          <a:lstStyle/>
          <a:p>
            <a:pPr algn="l"/>
            <a:r>
              <a:rPr sz="4400" b="1" dirty="0" err="1">
                <a:solidFill>
                  <a:srgbClr val="EBEDF0"/>
                </a:solidFill>
              </a:rPr>
              <a:t>Работа</a:t>
            </a:r>
            <a:r>
              <a:rPr sz="4400" b="1" dirty="0">
                <a:solidFill>
                  <a:srgbClr val="EBEDF0"/>
                </a:solidFill>
              </a:rPr>
              <a:t> 2</a:t>
            </a:r>
          </a:p>
        </p:txBody>
      </p:sp>
      <p:pic>
        <p:nvPicPr>
          <p:cNvPr id="7" name="Рисунок 6">
            <a:extLst>
              <a:ext uri="{FF2B5EF4-FFF2-40B4-BE49-F238E27FC236}">
                <a16:creationId xmlns:a16="http://schemas.microsoft.com/office/drawing/2014/main" id="{22336B01-F67C-428F-80BB-D154D3FD905E}"/>
              </a:ext>
            </a:extLst>
          </p:cNvPr>
          <p:cNvPicPr>
            <a:picLocks noChangeAspect="1"/>
          </p:cNvPicPr>
          <p:nvPr/>
        </p:nvPicPr>
        <p:blipFill>
          <a:blip r:embed="rId2"/>
          <a:stretch>
            <a:fillRect/>
          </a:stretch>
        </p:blipFill>
        <p:spPr>
          <a:xfrm>
            <a:off x="392950" y="2173521"/>
            <a:ext cx="4483850" cy="2510957"/>
          </a:xfrm>
          <a:prstGeom prst="rect">
            <a:avLst/>
          </a:prstGeom>
        </p:spPr>
      </p:pic>
      <p:sp>
        <p:nvSpPr>
          <p:cNvPr id="11" name="TextBox 10">
            <a:extLst>
              <a:ext uri="{FF2B5EF4-FFF2-40B4-BE49-F238E27FC236}">
                <a16:creationId xmlns:a16="http://schemas.microsoft.com/office/drawing/2014/main" id="{FF9AF4FF-0D35-4CB1-94D0-93BB1FFCCB7F}"/>
              </a:ext>
            </a:extLst>
          </p:cNvPr>
          <p:cNvSpPr txBox="1"/>
          <p:nvPr/>
        </p:nvSpPr>
        <p:spPr>
          <a:xfrm>
            <a:off x="4876800" y="1500961"/>
            <a:ext cx="6139542" cy="4544834"/>
          </a:xfrm>
          <a:prstGeom prst="rect">
            <a:avLst/>
          </a:prstGeom>
          <a:noFill/>
        </p:spPr>
        <p:txBody>
          <a:bodyPr wrap="square">
            <a:spAutoFit/>
          </a:bodyPr>
          <a:lstStyle/>
          <a:p>
            <a:pPr algn="just">
              <a:defRPr sz="1600" b="1"/>
            </a:pPr>
            <a:r>
              <a:rPr lang="en-US" dirty="0">
                <a:solidFill>
                  <a:schemeClr val="bg1"/>
                </a:solidFill>
              </a:rPr>
              <a:t>Prompt:</a:t>
            </a:r>
          </a:p>
          <a:p>
            <a:pPr marL="171450" indent="-171450" algn="just">
              <a:spcAft>
                <a:spcPts val="800"/>
              </a:spcAft>
              <a:buFont typeface="Arial" panose="020B0604020202020204" pitchFamily="34" charset="0"/>
              <a:buChar char="•"/>
              <a:defRPr sz="1200"/>
            </a:pPr>
            <a:r>
              <a:rPr lang="en-US" dirty="0">
                <a:solidFill>
                  <a:schemeClr val="bg1"/>
                </a:solidFill>
              </a:rPr>
              <a:t>first-person POV in a supermarket beverage aisle, framed short section (bounded by a visible endcap in background, no endless rows), outstretched RIGHT hand reaching TOWARD a cold aluminum beer can on the shelf (fingers inches away, NOT holding), LEFT wrist with a black smartwatch partly visible, shopping basket at the bottom of frame with a bright bag of chips and a tray of raw chicken wings for air fryer, chips bags also placed on the adjacent eye-level shelf to the right, TWO MALE FRIENDS clearly visible in the mid-ground choosing chips (one holding a bag, the other pointing), sharp mid-ground faces, no motion blur, friendly expressions, axial symmetry along the aisle, central perspective but depth limited, complementary color contrast green shelf lighting vs warm orange highlights, semi-realistic 3D style, cinematic lighting, soft shadows, high detail, 4k, no readable brand names or labels. Negative prompt: blurry, deformed, extra fingers, extra limbs, text, typography, letters, numbers, watermark, logo, brand text, readable labels, price tags, barcode, signage, low quality, oversharp, noisy background, cluttered composition, kitsch, stock photo look, infinite shelves, beer already in hand</a:t>
            </a:r>
          </a:p>
          <a:p>
            <a:pPr algn="just">
              <a:defRPr sz="1600" b="1"/>
            </a:pPr>
            <a:r>
              <a:rPr lang="en-US" dirty="0">
                <a:solidFill>
                  <a:schemeClr val="bg1"/>
                </a:solidFill>
              </a:rPr>
              <a:t>Negative prompt (append if your model lacks a separate field):</a:t>
            </a:r>
          </a:p>
          <a:p>
            <a:pPr marL="171450" indent="-171450" algn="just">
              <a:spcAft>
                <a:spcPts val="800"/>
              </a:spcAft>
              <a:buFont typeface="Arial" panose="020B0604020202020204" pitchFamily="34" charset="0"/>
              <a:buChar char="•"/>
              <a:defRPr sz="1200"/>
            </a:pPr>
            <a:r>
              <a:rPr lang="en-US" dirty="0">
                <a:solidFill>
                  <a:schemeClr val="bg1"/>
                </a:solidFill>
              </a:rPr>
              <a:t>blurry, deformed, extra fingers, extra limbs, text, typography, letters, numbers, watermark, logo, brand text, readable labels, price tags, barcode, signage, low quality, oversharp, noisy background, cluttered composition, kitsch, stock photo look</a:t>
            </a:r>
          </a:p>
          <a:p>
            <a:pPr algn="just">
              <a:defRPr sz="1600" b="1"/>
            </a:pPr>
            <a:r>
              <a:rPr lang="en-US" dirty="0">
                <a:solidFill>
                  <a:schemeClr val="bg1"/>
                </a:solidFill>
              </a:rPr>
              <a:t>Tool settings hint:</a:t>
            </a:r>
          </a:p>
          <a:p>
            <a:pPr marL="171450" indent="-171450" algn="just">
              <a:buFont typeface="Arial" panose="020B0604020202020204" pitchFamily="34" charset="0"/>
              <a:buChar char="•"/>
              <a:defRPr sz="1200"/>
            </a:pPr>
            <a:r>
              <a:rPr lang="en-US" dirty="0">
                <a:solidFill>
                  <a:schemeClr val="bg1"/>
                </a:solidFill>
              </a:rPr>
              <a:t>Aspect ratio 16:9; Style: semi-realistic 3D; Lighting: soft key + subtle rim; Guidance/CFG: middle</a:t>
            </a:r>
            <a:r>
              <a:rPr lang="ru-RU" dirty="0">
                <a:solidFill>
                  <a:schemeClr val="bg1"/>
                </a:solidFill>
              </a:rPr>
              <a:t>; </a:t>
            </a:r>
            <a:r>
              <a:rPr lang="en-US" dirty="0">
                <a:solidFill>
                  <a:schemeClr val="bg1"/>
                </a:solidFill>
              </a:rPr>
              <a:t>Steps: default</a:t>
            </a:r>
            <a:r>
              <a:rPr lang="ru-RU" dirty="0">
                <a:solidFill>
                  <a:schemeClr val="bg1"/>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55521" y="731520"/>
            <a:ext cx="2275688" cy="769441"/>
          </a:xfrm>
          <a:prstGeom prst="rect">
            <a:avLst/>
          </a:prstGeom>
          <a:noFill/>
        </p:spPr>
        <p:txBody>
          <a:bodyPr wrap="none">
            <a:spAutoFit/>
          </a:bodyPr>
          <a:lstStyle/>
          <a:p>
            <a:pPr algn="l"/>
            <a:r>
              <a:rPr sz="4400" b="1" dirty="0" err="1">
                <a:solidFill>
                  <a:srgbClr val="EBEDF0"/>
                </a:solidFill>
              </a:rPr>
              <a:t>Работа</a:t>
            </a:r>
            <a:r>
              <a:rPr sz="4400" b="1" dirty="0">
                <a:solidFill>
                  <a:srgbClr val="EBEDF0"/>
                </a:solidFill>
              </a:rPr>
              <a:t> 3</a:t>
            </a:r>
          </a:p>
        </p:txBody>
      </p:sp>
      <p:sp>
        <p:nvSpPr>
          <p:cNvPr id="6" name="TextBox 5"/>
          <p:cNvSpPr txBox="1"/>
          <p:nvPr/>
        </p:nvSpPr>
        <p:spPr>
          <a:xfrm>
            <a:off x="2255520" y="6858001"/>
            <a:ext cx="5852564" cy="276999"/>
          </a:xfrm>
          <a:prstGeom prst="rect">
            <a:avLst/>
          </a:prstGeom>
          <a:noFill/>
        </p:spPr>
        <p:txBody>
          <a:bodyPr wrap="none">
            <a:spAutoFit/>
          </a:bodyPr>
          <a:lstStyle/>
          <a:p>
            <a:r>
              <a:rPr sz="1200">
                <a:solidFill>
                  <a:srgbClr val="A0AAB4"/>
                </a:solidFill>
              </a:rPr>
              <a:t>Короткое пояснение (1–2 строки): приёмы глитча/нет-арта, что отличает кадр в серии.</a:t>
            </a:r>
          </a:p>
        </p:txBody>
      </p:sp>
      <p:pic>
        <p:nvPicPr>
          <p:cNvPr id="7" name="Рисунок 6">
            <a:extLst>
              <a:ext uri="{FF2B5EF4-FFF2-40B4-BE49-F238E27FC236}">
                <a16:creationId xmlns:a16="http://schemas.microsoft.com/office/drawing/2014/main" id="{A64C7337-C922-4D02-BA46-811BFBACD770}"/>
              </a:ext>
            </a:extLst>
          </p:cNvPr>
          <p:cNvPicPr>
            <a:picLocks noChangeAspect="1"/>
          </p:cNvPicPr>
          <p:nvPr/>
        </p:nvPicPr>
        <p:blipFill>
          <a:blip r:embed="rId2"/>
          <a:stretch>
            <a:fillRect/>
          </a:stretch>
        </p:blipFill>
        <p:spPr>
          <a:xfrm>
            <a:off x="323460" y="2232481"/>
            <a:ext cx="4516017" cy="2528969"/>
          </a:xfrm>
          <a:prstGeom prst="rect">
            <a:avLst/>
          </a:prstGeom>
        </p:spPr>
      </p:pic>
      <p:sp>
        <p:nvSpPr>
          <p:cNvPr id="10" name="TextBox 9">
            <a:extLst>
              <a:ext uri="{FF2B5EF4-FFF2-40B4-BE49-F238E27FC236}">
                <a16:creationId xmlns:a16="http://schemas.microsoft.com/office/drawing/2014/main" id="{EDF2B9CC-CB2E-4AAD-AC99-966D7D227E6F}"/>
              </a:ext>
            </a:extLst>
          </p:cNvPr>
          <p:cNvSpPr txBox="1"/>
          <p:nvPr/>
        </p:nvSpPr>
        <p:spPr>
          <a:xfrm>
            <a:off x="5019869" y="1665244"/>
            <a:ext cx="6745410" cy="3806170"/>
          </a:xfrm>
          <a:prstGeom prst="rect">
            <a:avLst/>
          </a:prstGeom>
          <a:noFill/>
        </p:spPr>
        <p:txBody>
          <a:bodyPr wrap="square" rtlCol="0">
            <a:spAutoFit/>
          </a:bodyPr>
          <a:lstStyle/>
          <a:p>
            <a:pPr algn="just">
              <a:defRPr sz="1600" b="1"/>
            </a:pPr>
            <a:r>
              <a:rPr lang="en-US" dirty="0">
                <a:solidFill>
                  <a:schemeClr val="bg1"/>
                </a:solidFill>
              </a:rPr>
              <a:t>Prompt:</a:t>
            </a:r>
          </a:p>
          <a:p>
            <a:pPr marL="171450" indent="-171450" algn="just">
              <a:spcAft>
                <a:spcPts val="800"/>
              </a:spcAft>
              <a:buFont typeface="Arial" panose="020B0604020202020204" pitchFamily="34" charset="0"/>
              <a:buChar char="•"/>
              <a:defRPr sz="1200"/>
            </a:pPr>
            <a:r>
              <a:rPr lang="en-US" dirty="0">
                <a:solidFill>
                  <a:schemeClr val="bg1"/>
                </a:solidFill>
              </a:rPr>
              <a:t>first-person POV at a supermarket checkout, RIGHT hand tapping a contactless card on the payment terminal (tap in progress, gentle glow), terminal screen angled toward the viewer with a contactless icon but NO readable text or numbers, LEFT hand holding a shopping bag where chips, a tray of raw chicken wings and a beer can are visible, TWO MALE FRIENDS beyond the cashier lane smiling and looking back at the viewer, sliding doors and night city glow outside, axial symmetry centered on the conveyor and exit line, central perspective, complementary green interior lights vs warm orange accents, semi-realistic 3D style, cinematic lighting, soft shadows, high detail, 4k. Digital watch LEFT hand Negative prompt: blurry, deformed, extra fingers, extra limbs, text, typography, letters, numbers, watermark, logo, brand text, readable labels, price tags, barcode, signage, low quality, oversharp, noisy background, cluttered composition, kitsch, stock photo look</a:t>
            </a:r>
          </a:p>
          <a:p>
            <a:pPr algn="just">
              <a:defRPr sz="1600" b="1"/>
            </a:pPr>
            <a:r>
              <a:rPr lang="en-US" dirty="0">
                <a:solidFill>
                  <a:schemeClr val="bg1"/>
                </a:solidFill>
              </a:rPr>
              <a:t>Negative prompt (append if your model lacks a separate field):</a:t>
            </a:r>
          </a:p>
          <a:p>
            <a:pPr marL="171450" indent="-171450" algn="just">
              <a:spcAft>
                <a:spcPts val="800"/>
              </a:spcAft>
              <a:buFont typeface="Arial" panose="020B0604020202020204" pitchFamily="34" charset="0"/>
              <a:buChar char="•"/>
              <a:defRPr sz="1200"/>
            </a:pPr>
            <a:r>
              <a:rPr lang="en-US" dirty="0">
                <a:solidFill>
                  <a:schemeClr val="bg1"/>
                </a:solidFill>
              </a:rPr>
              <a:t>blurry, deformed, extra fingers, extra limbs, text, typography, letters, numbers, watermark, logo, brand text, readable labels, price tags, barcode, signage, low quality, oversharp, noisy background, cluttered composition, kitsch, stock photo look</a:t>
            </a:r>
          </a:p>
          <a:p>
            <a:pPr algn="just">
              <a:defRPr sz="1600" b="1"/>
            </a:pPr>
            <a:r>
              <a:rPr lang="en-US" dirty="0">
                <a:solidFill>
                  <a:schemeClr val="bg1"/>
                </a:solidFill>
              </a:rPr>
              <a:t>Tool settings hint:</a:t>
            </a:r>
          </a:p>
          <a:p>
            <a:pPr marL="171450" indent="-171450" algn="just">
              <a:buFont typeface="Arial" panose="020B0604020202020204" pitchFamily="34" charset="0"/>
              <a:buChar char="•"/>
              <a:defRPr sz="1200"/>
            </a:pPr>
            <a:r>
              <a:rPr lang="en-US" dirty="0">
                <a:solidFill>
                  <a:schemeClr val="bg1"/>
                </a:solidFill>
              </a:rPr>
              <a:t>Aspect ratio 16:9; Style: semi-realistic 3D; Lighting: soft key + subtle rim; Guidance/CFG: middle</a:t>
            </a:r>
            <a:r>
              <a:rPr lang="ru-RU" dirty="0">
                <a:solidFill>
                  <a:schemeClr val="bg1"/>
                </a:solidFill>
              </a:rPr>
              <a:t>; </a:t>
            </a:r>
            <a:r>
              <a:rPr lang="en-US" dirty="0">
                <a:solidFill>
                  <a:schemeClr val="bg1"/>
                </a:solidFill>
              </a:rPr>
              <a:t>Steps: default.</a:t>
            </a:r>
            <a:endParaRPr lang="ru-RU"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155</TotalTime>
  <Words>992</Words>
  <Application>Microsoft Office PowerPoint</Application>
  <PresentationFormat>Широкоэкранный</PresentationFormat>
  <Paragraphs>33</Paragraphs>
  <Slides>6</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6</vt:i4>
      </vt:variant>
    </vt:vector>
  </HeadingPairs>
  <TitlesOfParts>
    <vt:vector size="9"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BaronPipistron</dc:creator>
  <cp:keywords/>
  <dc:description>generated using python-pptx</dc:description>
  <cp:lastModifiedBy>Олег Концебалов</cp:lastModifiedBy>
  <cp:revision>12</cp:revision>
  <dcterms:created xsi:type="dcterms:W3CDTF">2013-01-27T09:14:16Z</dcterms:created>
  <dcterms:modified xsi:type="dcterms:W3CDTF">2025-10-11T15:32:39Z</dcterms:modified>
  <cp:category/>
</cp:coreProperties>
</file>