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8" d="100"/>
          <a:sy n="108" d="100"/>
        </p:scale>
        <p:origin x="678" y="9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7541" y="624989"/>
            <a:ext cx="5951053" cy="17235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ru-RU" sz="4400" b="1" dirty="0">
                <a:solidFill>
                  <a:srgbClr val="EBEDF0"/>
                </a:solidFill>
              </a:rPr>
              <a:t>Концебалов Олег</a:t>
            </a:r>
          </a:p>
          <a:p>
            <a:pPr algn="l"/>
            <a:r>
              <a:rPr lang="ru-RU" sz="4400" b="1" dirty="0">
                <a:solidFill>
                  <a:srgbClr val="EBEDF0"/>
                </a:solidFill>
              </a:rPr>
              <a:t>М8О-409Б-22</a:t>
            </a:r>
            <a:endParaRPr sz="4400" b="1" dirty="0">
              <a:solidFill>
                <a:srgbClr val="EBEDF0"/>
              </a:solidFill>
            </a:endParaRPr>
          </a:p>
          <a:p>
            <a:r>
              <a:rPr dirty="0" err="1">
                <a:solidFill>
                  <a:srgbClr val="A0AAB4"/>
                </a:solidFill>
              </a:rPr>
              <a:t>Курс</a:t>
            </a:r>
            <a:r>
              <a:rPr dirty="0">
                <a:solidFill>
                  <a:srgbClr val="A0AAB4"/>
                </a:solidFill>
              </a:rPr>
              <a:t>: </a:t>
            </a:r>
            <a:r>
              <a:rPr dirty="0" err="1">
                <a:solidFill>
                  <a:srgbClr val="A0AAB4"/>
                </a:solidFill>
              </a:rPr>
              <a:t>Цифровое</a:t>
            </a:r>
            <a:r>
              <a:rPr dirty="0">
                <a:solidFill>
                  <a:srgbClr val="A0AAB4"/>
                </a:solidFill>
              </a:rPr>
              <a:t> </a:t>
            </a:r>
            <a:r>
              <a:rPr dirty="0" err="1">
                <a:solidFill>
                  <a:srgbClr val="A0AAB4"/>
                </a:solidFill>
              </a:rPr>
              <a:t>искусство</a:t>
            </a:r>
            <a:r>
              <a:rPr dirty="0">
                <a:solidFill>
                  <a:srgbClr val="A0AAB4"/>
                </a:solidFill>
              </a:rPr>
              <a:t> и </a:t>
            </a:r>
            <a:r>
              <a:rPr dirty="0" err="1">
                <a:solidFill>
                  <a:srgbClr val="A0AAB4"/>
                </a:solidFill>
              </a:rPr>
              <a:t>дизайн</a:t>
            </a:r>
            <a:r>
              <a:rPr dirty="0">
                <a:solidFill>
                  <a:srgbClr val="A0AAB4"/>
                </a:solidFill>
              </a:rPr>
              <a:t> ·</a:t>
            </a:r>
            <a:r>
              <a:rPr lang="ru-RU" dirty="0">
                <a:solidFill>
                  <a:srgbClr val="A0AAB4"/>
                </a:solidFill>
              </a:rPr>
              <a:t> Домашнее задание 1</a:t>
            </a:r>
            <a:endParaRPr dirty="0">
              <a:solidFill>
                <a:srgbClr val="A0AAB4"/>
              </a:solidFill>
            </a:endParaRPr>
          </a:p>
        </p:txBody>
      </p:sp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4679EE9F-813A-4CCF-A0A1-1F18C12BA8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0480" y="5077403"/>
            <a:ext cx="1539165" cy="14831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426721" y="380863"/>
            <a:ext cx="7237879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 err="1">
                <a:solidFill>
                  <a:srgbClr val="EBEDF0"/>
                </a:solidFill>
              </a:rPr>
              <a:t>Задание</a:t>
            </a:r>
            <a:r>
              <a:rPr sz="4400" b="1" dirty="0">
                <a:solidFill>
                  <a:srgbClr val="EBEDF0"/>
                </a:solidFill>
              </a:rPr>
              <a:t> 1: </a:t>
            </a:r>
            <a:r>
              <a:rPr sz="4400" b="1" dirty="0" err="1">
                <a:solidFill>
                  <a:srgbClr val="EBEDF0"/>
                </a:solidFill>
              </a:rPr>
              <a:t>Переосмысление</a:t>
            </a:r>
            <a:endParaRPr sz="4400" b="1" dirty="0">
              <a:solidFill>
                <a:srgbClr val="EBEDF0"/>
              </a:solidFill>
            </a:endParaRPr>
          </a:p>
          <a:p>
            <a:r>
              <a:rPr dirty="0" err="1">
                <a:solidFill>
                  <a:srgbClr val="A0AAB4"/>
                </a:solidFill>
              </a:rPr>
              <a:t>Густав</a:t>
            </a:r>
            <a:r>
              <a:rPr dirty="0">
                <a:solidFill>
                  <a:srgbClr val="A0AAB4"/>
                </a:solidFill>
              </a:rPr>
              <a:t> </a:t>
            </a:r>
            <a:r>
              <a:rPr dirty="0" err="1">
                <a:solidFill>
                  <a:srgbClr val="A0AAB4"/>
                </a:solidFill>
              </a:rPr>
              <a:t>Курбе</a:t>
            </a:r>
            <a:r>
              <a:rPr dirty="0">
                <a:solidFill>
                  <a:srgbClr val="A0AAB4"/>
                </a:solidFill>
              </a:rPr>
              <a:t> — «</a:t>
            </a:r>
            <a:r>
              <a:rPr dirty="0" err="1">
                <a:solidFill>
                  <a:srgbClr val="A0AAB4"/>
                </a:solidFill>
              </a:rPr>
              <a:t>Отчаянный</a:t>
            </a:r>
            <a:r>
              <a:rPr dirty="0">
                <a:solidFill>
                  <a:srgbClr val="A0AAB4"/>
                </a:solidFill>
              </a:rPr>
              <a:t> </a:t>
            </a:r>
            <a:r>
              <a:rPr dirty="0" err="1">
                <a:solidFill>
                  <a:srgbClr val="A0AAB4"/>
                </a:solidFill>
              </a:rPr>
              <a:t>человек</a:t>
            </a:r>
            <a:r>
              <a:rPr dirty="0">
                <a:solidFill>
                  <a:srgbClr val="A0AAB4"/>
                </a:solidFill>
              </a:rPr>
              <a:t>» · </a:t>
            </a:r>
            <a:r>
              <a:rPr dirty="0" err="1">
                <a:solidFill>
                  <a:srgbClr val="A0AAB4"/>
                </a:solidFill>
              </a:rPr>
              <a:t>Современная</a:t>
            </a:r>
            <a:r>
              <a:rPr dirty="0">
                <a:solidFill>
                  <a:srgbClr val="A0AAB4"/>
                </a:solidFill>
              </a:rPr>
              <a:t> </a:t>
            </a:r>
            <a:r>
              <a:rPr dirty="0" err="1">
                <a:solidFill>
                  <a:srgbClr val="A0AAB4"/>
                </a:solidFill>
              </a:rPr>
              <a:t>версия</a:t>
            </a:r>
            <a:endParaRPr dirty="0">
              <a:solidFill>
                <a:srgbClr val="A0AAB4"/>
              </a:solidFill>
            </a:endParaRPr>
          </a:p>
        </p:txBody>
      </p:sp>
      <p:pic>
        <p:nvPicPr>
          <p:cNvPr id="2052" name="Picture 4" descr="Picture background">
            <a:extLst>
              <a:ext uri="{FF2B5EF4-FFF2-40B4-BE49-F238E27FC236}">
                <a16:creationId xmlns:a16="http://schemas.microsoft.com/office/drawing/2014/main" id="{BAA36505-B0A5-49F3-9173-937E237D86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1" y="1665244"/>
            <a:ext cx="4156103" cy="34030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571C10E-3E3D-433B-852D-4CA4ADA14ABD}"/>
              </a:ext>
            </a:extLst>
          </p:cNvPr>
          <p:cNvSpPr txBox="1"/>
          <p:nvPr/>
        </p:nvSpPr>
        <p:spPr>
          <a:xfrm>
            <a:off x="4831818" y="1665244"/>
            <a:ext cx="6933461" cy="47236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Для осовременивания я решил выбрать картину Густава Курбе – «Отчаянный человек». Сделал бы картину как скрин рабочего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MacBook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’а, на котором будет открыт корпоративный видеочат – идет рабочий </a:t>
            </a:r>
            <a:r>
              <a:rPr lang="ru-RU" sz="1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созвон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у главного героя включена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preview </a:t>
            </a:r>
            <a:r>
              <a:rPr lang="ru-RU" sz="1800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вебки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Жест и свет остаются прежними: тусклый свет, контрастное лицо, расширенные зрачки. Герой сжимает в руках ручку, которая уже истощилась от бесконечных заметок. На экране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Mac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’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можно будет увидеть низкий заряд – около 10%, кучу непрочитанных сообщений в почте, и терминал, в котором компиляция кода упала с кучей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Error 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Warning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Так реализм Курбе встретится с цифровым повседневным рабочим «адом» (шумом) – люди полностью погружены в цифровой мир и работу, тратят на них весь свой ресурс, выгорают.</a:t>
            </a:r>
            <a:endParaRPr lang="ru-RU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180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Рисовать не умею от слова совсем, так бы набросок оформил какой-нибудь</a:t>
            </a:r>
            <a:endParaRPr lang="ru-RU" sz="1800" dirty="0">
              <a:solidFill>
                <a:schemeClr val="bg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2255520" y="731520"/>
            <a:ext cx="5956182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 err="1">
                <a:solidFill>
                  <a:srgbClr val="EBEDF0"/>
                </a:solidFill>
              </a:rPr>
              <a:t>Задание</a:t>
            </a:r>
            <a:r>
              <a:rPr sz="4400" b="1" dirty="0">
                <a:solidFill>
                  <a:srgbClr val="EBEDF0"/>
                </a:solidFill>
              </a:rPr>
              <a:t> 2: </a:t>
            </a:r>
            <a:r>
              <a:rPr lang="ru-RU" sz="4400" b="1" dirty="0">
                <a:solidFill>
                  <a:srgbClr val="EBEDF0"/>
                </a:solidFill>
              </a:rPr>
              <a:t>Серия работ</a:t>
            </a:r>
            <a:endParaRPr sz="4400" b="1" dirty="0">
              <a:solidFill>
                <a:srgbClr val="EBEDF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255520" y="2103120"/>
            <a:ext cx="768096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1600" dirty="0">
                <a:solidFill>
                  <a:schemeClr val="bg1"/>
                </a:solidFill>
              </a:rPr>
              <a:t>Моя серия «Три узла рутины» фиксирует повседневный рутинный маршрут — дом, дорога, работа/учёба — и превращает его в шкалу цифровой эрозии. Я оставляю естественный взгляд на вещи взгляд и холодный свет экранов, но последовательно усиливаю глитч: от мягкого RGB-сдвига до полосовых разрывов, волновых деформаций и почти нечитаемого финала. Так повседневная рутина буквально расслаиваются, показывая, как повторяющиеся обязанности «съедают» внимание и память о личном, убивают идентичность личности.</a:t>
            </a:r>
          </a:p>
          <a:p>
            <a:pPr algn="just"/>
            <a:endParaRPr lang="ru-RU" sz="1600" dirty="0">
              <a:solidFill>
                <a:schemeClr val="bg1"/>
              </a:solidFill>
            </a:endParaRPr>
          </a:p>
          <a:p>
            <a:pPr algn="just"/>
            <a:r>
              <a:rPr lang="ru-RU" sz="1600" dirty="0">
                <a:solidFill>
                  <a:schemeClr val="bg1"/>
                </a:solidFill>
              </a:rPr>
              <a:t>Техника: Python-скрипт с режимами </a:t>
            </a:r>
            <a:r>
              <a:rPr lang="ru-RU" sz="1600" dirty="0" err="1">
                <a:solidFill>
                  <a:schemeClr val="bg1"/>
                </a:solidFill>
              </a:rPr>
              <a:t>rgb_shift</a:t>
            </a:r>
            <a:r>
              <a:rPr lang="ru-RU" sz="1600" dirty="0">
                <a:solidFill>
                  <a:schemeClr val="bg1"/>
                </a:solidFill>
              </a:rPr>
              <a:t>/</a:t>
            </a:r>
            <a:r>
              <a:rPr lang="ru-RU" sz="1600" dirty="0" err="1">
                <a:solidFill>
                  <a:schemeClr val="bg1"/>
                </a:solidFill>
              </a:rPr>
              <a:t>slice</a:t>
            </a:r>
            <a:r>
              <a:rPr lang="ru-RU" sz="1600" dirty="0">
                <a:solidFill>
                  <a:schemeClr val="bg1"/>
                </a:solidFill>
              </a:rPr>
              <a:t>/</a:t>
            </a:r>
            <a:r>
              <a:rPr lang="ru-RU" sz="1600" dirty="0" err="1">
                <a:solidFill>
                  <a:schemeClr val="bg1"/>
                </a:solidFill>
              </a:rPr>
              <a:t>wave</a:t>
            </a:r>
            <a:r>
              <a:rPr lang="ru-RU" sz="1600" dirty="0">
                <a:solidFill>
                  <a:schemeClr val="bg1"/>
                </a:solidFill>
              </a:rPr>
              <a:t>/</a:t>
            </a:r>
            <a:r>
              <a:rPr lang="ru-RU" sz="1600" dirty="0" err="1">
                <a:solidFill>
                  <a:schemeClr val="bg1"/>
                </a:solidFill>
              </a:rPr>
              <a:t>jpeg_corrupt</a:t>
            </a:r>
            <a:r>
              <a:rPr lang="ru-RU" sz="1600" dirty="0">
                <a:solidFill>
                  <a:schemeClr val="bg1"/>
                </a:solidFill>
              </a:rPr>
              <a:t> и параметром </a:t>
            </a:r>
            <a:r>
              <a:rPr lang="ru-RU" sz="1600" dirty="0" err="1">
                <a:solidFill>
                  <a:schemeClr val="bg1"/>
                </a:solidFill>
              </a:rPr>
              <a:t>strength</a:t>
            </a:r>
            <a:r>
              <a:rPr lang="ru-RU" sz="1600" dirty="0">
                <a:solidFill>
                  <a:schemeClr val="bg1"/>
                </a:solidFill>
              </a:rPr>
              <a:t> (возрастает от кадра к кадру), единый </a:t>
            </a:r>
            <a:r>
              <a:rPr lang="ru-RU" sz="1600" dirty="0" err="1">
                <a:solidFill>
                  <a:schemeClr val="bg1"/>
                </a:solidFill>
              </a:rPr>
              <a:t>seed</a:t>
            </a:r>
            <a:r>
              <a:rPr lang="ru-RU" sz="1600" dirty="0">
                <a:solidFill>
                  <a:schemeClr val="bg1"/>
                </a:solidFill>
              </a:rPr>
              <a:t> для общего «почерка»</a:t>
            </a:r>
          </a:p>
          <a:p>
            <a:pPr algn="just"/>
            <a:endParaRPr lang="ru-RU" sz="1600" dirty="0">
              <a:solidFill>
                <a:schemeClr val="bg1"/>
              </a:solidFill>
            </a:endParaRPr>
          </a:p>
          <a:p>
            <a:pPr algn="just"/>
            <a:r>
              <a:rPr lang="ru-RU" sz="1600" dirty="0">
                <a:solidFill>
                  <a:schemeClr val="bg1"/>
                </a:solidFill>
              </a:rPr>
              <a:t>Со скриптом вы можете ознакомиться на моем </a:t>
            </a:r>
            <a:r>
              <a:rPr lang="en-US" sz="1600" dirty="0">
                <a:solidFill>
                  <a:schemeClr val="bg1"/>
                </a:solidFill>
              </a:rPr>
              <a:t>GitHub: </a:t>
            </a:r>
            <a:endParaRPr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55521" y="731520"/>
            <a:ext cx="595797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 err="1">
                <a:solidFill>
                  <a:srgbClr val="EBEDF0"/>
                </a:solidFill>
              </a:rPr>
              <a:t>Серия</a:t>
            </a:r>
            <a:r>
              <a:rPr sz="4400" b="1" dirty="0">
                <a:solidFill>
                  <a:srgbClr val="EBEDF0"/>
                </a:solidFill>
              </a:rPr>
              <a:t>:</a:t>
            </a:r>
            <a:r>
              <a:rPr lang="ru-RU" sz="4400" b="1" dirty="0">
                <a:solidFill>
                  <a:srgbClr val="EBEDF0"/>
                </a:solidFill>
              </a:rPr>
              <a:t> Три узла рутины</a:t>
            </a:r>
            <a:endParaRPr sz="4400" b="1" dirty="0">
              <a:solidFill>
                <a:srgbClr val="EBEDF0"/>
              </a:solidFill>
            </a:endParaRP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469FC5A3-8D79-48A3-AFF4-2215659E0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384" y="1500962"/>
            <a:ext cx="1547867" cy="1934834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4B767F3-CF11-430B-B700-5174A52F0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7234" y="1505929"/>
            <a:ext cx="3580312" cy="1929867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570D80A8-D285-4934-BB1E-176D7510E2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1529" y="1500961"/>
            <a:ext cx="2892059" cy="1928039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52D96B4-0888-41A4-B00F-634A0E0784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8290" y="3686289"/>
            <a:ext cx="3554245" cy="2665684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2C53D174-2DB9-4868-B4A0-61CD6EB4C1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694" y="3686288"/>
            <a:ext cx="3986070" cy="26656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55521" y="731520"/>
            <a:ext cx="22756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 err="1">
                <a:solidFill>
                  <a:srgbClr val="EBEDF0"/>
                </a:solidFill>
              </a:rPr>
              <a:t>Работа</a:t>
            </a:r>
            <a:r>
              <a:rPr sz="4400" b="1" dirty="0">
                <a:solidFill>
                  <a:srgbClr val="EBEDF0"/>
                </a:solidFill>
              </a:rPr>
              <a:t>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5520" y="6858001"/>
            <a:ext cx="721062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AB4"/>
                </a:solidFill>
              </a:rPr>
              <a:t>Если делаете видео-арт: здесь — постер-фрейм, а ниже добавьте ссылку на хостинг (Vimeo/YouTube/диск).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54BCAA3-0772-4874-9A9A-D9519A768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7759" y="1395539"/>
            <a:ext cx="4040820" cy="50510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55521" y="731520"/>
            <a:ext cx="22756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 err="1">
                <a:solidFill>
                  <a:srgbClr val="EBEDF0"/>
                </a:solidFill>
              </a:rPr>
              <a:t>Работа</a:t>
            </a:r>
            <a:r>
              <a:rPr sz="4400" b="1" dirty="0">
                <a:solidFill>
                  <a:srgbClr val="EBEDF0"/>
                </a:solidFill>
              </a:rPr>
              <a:t>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5520" y="6858001"/>
            <a:ext cx="58525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AB4"/>
                </a:solidFill>
              </a:rPr>
              <a:t>Короткое пояснение (1–2 строки): приёмы глитча/нет-арта, что отличает кадр в серии.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C6F5F0D-150D-4A51-A4A2-216313755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9237" y="1500961"/>
            <a:ext cx="9153525" cy="49339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55521" y="731520"/>
            <a:ext cx="22756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 err="1">
                <a:solidFill>
                  <a:srgbClr val="EBEDF0"/>
                </a:solidFill>
              </a:rPr>
              <a:t>Работа</a:t>
            </a:r>
            <a:r>
              <a:rPr sz="4400" b="1" dirty="0">
                <a:solidFill>
                  <a:srgbClr val="EBEDF0"/>
                </a:solidFill>
              </a:rPr>
              <a:t>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5520" y="6858001"/>
            <a:ext cx="58525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AB4"/>
                </a:solidFill>
              </a:rPr>
              <a:t>Короткое пояснение (1–2 строки): приёмы глитча/нет-арта, что отличает кадр в серии.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FDEF03C-2A5C-4FD9-B8E8-969F8405C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083" y="1500961"/>
            <a:ext cx="7341833" cy="48945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55521" y="731520"/>
            <a:ext cx="22756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 err="1">
                <a:solidFill>
                  <a:srgbClr val="EBEDF0"/>
                </a:solidFill>
              </a:rPr>
              <a:t>Работа</a:t>
            </a:r>
            <a:r>
              <a:rPr sz="4400" b="1" dirty="0">
                <a:solidFill>
                  <a:srgbClr val="EBEDF0"/>
                </a:solidFill>
              </a:rPr>
              <a:t>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5520" y="6858001"/>
            <a:ext cx="58525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AB4"/>
                </a:solidFill>
              </a:rPr>
              <a:t>Короткое пояснение (1–2 строки): приёмы глитча/нет-арта, что отличает кадр в серии.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88FABF7-34F5-4299-9BA1-C0E8944117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5037" y="1500961"/>
            <a:ext cx="6681926" cy="50114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1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55521" y="731520"/>
            <a:ext cx="22756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400" b="1" dirty="0" err="1">
                <a:solidFill>
                  <a:srgbClr val="EBEDF0"/>
                </a:solidFill>
              </a:rPr>
              <a:t>Работа</a:t>
            </a:r>
            <a:r>
              <a:rPr sz="4400" b="1" dirty="0">
                <a:solidFill>
                  <a:srgbClr val="EBEDF0"/>
                </a:solidFill>
              </a:rPr>
              <a:t>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55520" y="6858001"/>
            <a:ext cx="585256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0AAB4"/>
                </a:solidFill>
              </a:rPr>
              <a:t>Короткое пояснение (1–2 строки): приёмы глитча/нет-арта, что отличает кадр в серии.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0165387-6A6F-4AE0-A1D0-492CD86FE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6613" y="1500961"/>
            <a:ext cx="7418773" cy="49613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414</Words>
  <Application>Microsoft Office PowerPoint</Application>
  <PresentationFormat>Широкоэкранный</PresentationFormat>
  <Paragraphs>24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Calibri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BaronPipistron</dc:creator>
  <cp:keywords/>
  <dc:description>generated using python-pptx</dc:description>
  <cp:lastModifiedBy>Олег Концебалов</cp:lastModifiedBy>
  <cp:revision>6</cp:revision>
  <dcterms:created xsi:type="dcterms:W3CDTF">2013-01-27T09:14:16Z</dcterms:created>
  <dcterms:modified xsi:type="dcterms:W3CDTF">2025-09-30T18:48:48Z</dcterms:modified>
  <cp:category/>
</cp:coreProperties>
</file>